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embeddedFontLst>
    <p:embeddedFont>
      <p:font typeface="Bree Serif" panose="020B0604020202020204" charset="0"/>
      <p:regular r:id="rId7"/>
    </p:embeddedFont>
    <p:embeddedFont>
      <p:font typeface="Golos Text" panose="020B0604020202020204" charset="0"/>
      <p:regular r:id="rId8"/>
    </p:embeddedFont>
    <p:embeddedFont>
      <p:font typeface="Golos Text Bold" panose="020B0604020202020204" charset="0"/>
      <p:regular r:id="rId9"/>
    </p:embeddedFont>
    <p:embeddedFont>
      <p:font typeface="Golos Text Medium" panose="020B0604020202020204" charset="0"/>
      <p:regular r:id="rId10"/>
    </p:embeddedFont>
    <p:embeddedFont>
      <p:font typeface="Golos Text SemiBol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AD8"/>
    <a:srgbClr val="C2482A"/>
    <a:srgbClr val="EEF3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9" d="100"/>
          <a:sy n="89" d="100"/>
        </p:scale>
        <p:origin x="33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0595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E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40" cy="6858000"/>
          </a:xfrm>
          <a:custGeom>
            <a:avLst/>
            <a:gdLst/>
            <a:ahLst/>
            <a:cxnLst/>
            <a:rect l="l" t="t" r="r" b="b"/>
            <a:pathLst>
              <a:path w="4754840" h="6858000">
                <a:moveTo>
                  <a:pt x="126997" y="0"/>
                </a:moveTo>
                <a:lnTo>
                  <a:pt x="3942061" y="0"/>
                </a:lnTo>
                <a:arcTo wR="812779" hR="812800" stAng="16200000" swAng="5400000"/>
                <a:lnTo>
                  <a:pt x="4754840" y="6731000"/>
                </a:lnTo>
                <a:arcTo wR="126997" hR="127000" stAng="0" swAng="5400000"/>
                <a:lnTo>
                  <a:pt x="126997" y="6858000"/>
                </a:lnTo>
                <a:arcTo wR="126997" hR="127000" stAng="5400000" swAng="5400000"/>
                <a:lnTo>
                  <a:pt x="0" y="127000"/>
                </a:lnTo>
                <a:arcTo wR="126997" hR="127000" stAng="10800000" swAng="5400000"/>
                <a:close/>
              </a:path>
            </a:pathLst>
          </a:custGeom>
          <a:solidFill>
            <a:srgbClr val="2F6B3A"/>
          </a:solidFill>
          <a:ln/>
        </p:spPr>
      </p:sp>
      <p:sp>
        <p:nvSpPr>
          <p:cNvPr id="3" name="Text 1"/>
          <p:cNvSpPr/>
          <p:nvPr/>
        </p:nvSpPr>
        <p:spPr>
          <a:xfrm>
            <a:off x="482588" y="389890"/>
            <a:ext cx="427225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100" spc="112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2000–2025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2588" y="791715"/>
            <a:ext cx="3840463" cy="2852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108" dirty="0">
                <a:solidFill>
                  <a:srgbClr val="FFFFFF"/>
                </a:solidFill>
                <a:latin typeface="Bree Serif" pitchFamily="34" charset="0"/>
                <a:ea typeface="Bree Serif" pitchFamily="34" charset="-122"/>
                <a:cs typeface="Bree Serif" pitchFamily="34" charset="0"/>
              </a:rPr>
              <a:t>Drought comes back about one year in four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482588" y="3837880"/>
            <a:ext cx="960017" cy="50701"/>
          </a:xfrm>
          <a:prstGeom prst="roundRect">
            <a:avLst>
              <a:gd name="adj" fmla="val 49999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482588" y="4155444"/>
            <a:ext cx="3840463" cy="736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Drought hit Mykolaiv region in </a:t>
            </a:r>
            <a:r>
              <a:rPr lang="en-US" sz="21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7</a:t>
            </a:r>
            <a:r>
              <a:rPr lang="en-US" sz="21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 of the last </a:t>
            </a:r>
            <a:r>
              <a:rPr lang="en-US" sz="21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26</a:t>
            </a:r>
            <a:r>
              <a:rPr lang="en-US" sz="21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 years.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82588" y="6041096"/>
            <a:ext cx="3840463" cy="46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Based on rain, heat and satellite images of crops, 2000–2025.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15125" y="382361"/>
            <a:ext cx="6395580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kern="100" spc="-57" dirty="0">
                <a:solidFill>
                  <a:srgbClr val="2E3F9E"/>
                </a:solidFill>
                <a:latin typeface="Bree Serif" pitchFamily="34" charset="0"/>
                <a:ea typeface="Bree Serif" pitchFamily="34" charset="-122"/>
                <a:cs typeface="Bree Serif" pitchFamily="34" charset="0"/>
              </a:rPr>
              <a:t>7 / 26</a:t>
            </a:r>
            <a:r>
              <a:rPr lang="en-US" sz="3800" kern="100" spc="-57" dirty="0">
                <a:solidFill>
                  <a:srgbClr val="14263D"/>
                </a:solidFill>
                <a:latin typeface="Bree Serif" pitchFamily="34" charset="0"/>
                <a:ea typeface="Bree Serif" pitchFamily="34" charset="-122"/>
                <a:cs typeface="Bree Serif" pitchFamily="34" charset="0"/>
              </a:rPr>
              <a:t> years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15125" y="1076821"/>
            <a:ext cx="6395580" cy="672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1550"/>
              </a:spcAft>
              <a:buNone/>
            </a:pPr>
            <a:r>
              <a:rPr lang="en-US" sz="1400" kern="100" spc="14" dirty="0">
                <a:solidFill>
                  <a:srgbClr val="56657A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Red squares show drought years.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kern="100" spc="14" dirty="0">
                <a:solidFill>
                  <a:srgbClr val="56657A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2000–2008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15125" y="1952526"/>
            <a:ext cx="603929" cy="327620"/>
          </a:xfrm>
          <a:prstGeom prst="rect">
            <a:avLst/>
          </a:prstGeom>
          <a:solidFill>
            <a:srgbClr val="DDEAD8"/>
          </a:solidFill>
          <a:ln/>
        </p:spPr>
      </p:sp>
      <p:sp>
        <p:nvSpPr>
          <p:cNvPr id="11" name="Text 9"/>
          <p:cNvSpPr/>
          <p:nvPr/>
        </p:nvSpPr>
        <p:spPr>
          <a:xfrm>
            <a:off x="5478623" y="2032536"/>
            <a:ext cx="54043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1351" y="1952526"/>
            <a:ext cx="603929" cy="327620"/>
          </a:xfrm>
          <a:prstGeom prst="rect">
            <a:avLst/>
          </a:prstGeom>
          <a:solidFill>
            <a:srgbClr val="DDEAD8"/>
          </a:solidFill>
          <a:ln/>
        </p:spPr>
      </p:sp>
      <p:sp>
        <p:nvSpPr>
          <p:cNvPr id="13" name="Text 11"/>
          <p:cNvSpPr/>
          <p:nvPr/>
        </p:nvSpPr>
        <p:spPr>
          <a:xfrm>
            <a:off x="6234849" y="2032536"/>
            <a:ext cx="54043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2001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27577" y="1952526"/>
            <a:ext cx="604128" cy="327620"/>
          </a:xfrm>
          <a:prstGeom prst="rect">
            <a:avLst/>
          </a:prstGeom>
          <a:solidFill>
            <a:srgbClr val="DDEAD8"/>
          </a:solidFill>
          <a:ln/>
        </p:spPr>
      </p:sp>
      <p:sp>
        <p:nvSpPr>
          <p:cNvPr id="15" name="Text 13"/>
          <p:cNvSpPr/>
          <p:nvPr/>
        </p:nvSpPr>
        <p:spPr>
          <a:xfrm>
            <a:off x="6991076" y="2032536"/>
            <a:ext cx="540629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2002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84002" y="1952526"/>
            <a:ext cx="603929" cy="327620"/>
          </a:xfrm>
          <a:prstGeom prst="rect">
            <a:avLst/>
          </a:prstGeom>
          <a:solidFill>
            <a:srgbClr val="DDEAD8"/>
          </a:solidFill>
          <a:ln/>
        </p:spPr>
      </p:sp>
      <p:sp>
        <p:nvSpPr>
          <p:cNvPr id="17" name="Text 15"/>
          <p:cNvSpPr/>
          <p:nvPr/>
        </p:nvSpPr>
        <p:spPr>
          <a:xfrm>
            <a:off x="7747501" y="2032536"/>
            <a:ext cx="54043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2003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440229" y="1952526"/>
            <a:ext cx="604029" cy="327620"/>
          </a:xfrm>
          <a:prstGeom prst="rect">
            <a:avLst/>
          </a:prstGeom>
          <a:solidFill>
            <a:srgbClr val="DDEAD8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727" y="2032536"/>
            <a:ext cx="540530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2004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96654" y="1952526"/>
            <a:ext cx="603929" cy="327620"/>
          </a:xfrm>
          <a:prstGeom prst="rect">
            <a:avLst/>
          </a:prstGeom>
          <a:solidFill>
            <a:srgbClr val="DDEAD8"/>
          </a:solidFill>
          <a:ln/>
        </p:spPr>
      </p:sp>
      <p:sp>
        <p:nvSpPr>
          <p:cNvPr id="21" name="Text 19"/>
          <p:cNvSpPr/>
          <p:nvPr/>
        </p:nvSpPr>
        <p:spPr>
          <a:xfrm>
            <a:off x="9260152" y="2032536"/>
            <a:ext cx="54043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2005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952880" y="1952526"/>
            <a:ext cx="517710" cy="327620"/>
          </a:xfrm>
          <a:prstGeom prst="rect">
            <a:avLst/>
          </a:prstGeom>
          <a:solidFill>
            <a:srgbClr val="DDEAD8"/>
          </a:solidFill>
          <a:ln/>
        </p:spPr>
      </p:sp>
      <p:sp>
        <p:nvSpPr>
          <p:cNvPr id="23" name="Text 21"/>
          <p:cNvSpPr/>
          <p:nvPr/>
        </p:nvSpPr>
        <p:spPr>
          <a:xfrm>
            <a:off x="10016378" y="2032536"/>
            <a:ext cx="454212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2006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622887" y="1952526"/>
            <a:ext cx="517710" cy="327620"/>
          </a:xfrm>
          <a:prstGeom prst="rect">
            <a:avLst/>
          </a:prstGeom>
          <a:solidFill>
            <a:srgbClr val="C2482A"/>
          </a:solidFill>
          <a:ln/>
        </p:spPr>
      </p:sp>
      <p:sp>
        <p:nvSpPr>
          <p:cNvPr id="25" name="Text 23"/>
          <p:cNvSpPr/>
          <p:nvPr/>
        </p:nvSpPr>
        <p:spPr>
          <a:xfrm>
            <a:off x="10686386" y="2032536"/>
            <a:ext cx="454212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2007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292895" y="1952526"/>
            <a:ext cx="517710" cy="327620"/>
          </a:xfrm>
          <a:prstGeom prst="rect">
            <a:avLst/>
          </a:prstGeom>
          <a:solidFill>
            <a:srgbClr val="DDEAD8"/>
          </a:solidFill>
          <a:ln/>
        </p:spPr>
      </p:sp>
      <p:sp>
        <p:nvSpPr>
          <p:cNvPr id="27" name="Text 25"/>
          <p:cNvSpPr/>
          <p:nvPr/>
        </p:nvSpPr>
        <p:spPr>
          <a:xfrm>
            <a:off x="11356393" y="2032536"/>
            <a:ext cx="454212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2008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15125" y="2491347"/>
            <a:ext cx="6776570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kern="100" spc="14" dirty="0">
                <a:solidFill>
                  <a:srgbClr val="56657A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2009–2016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15125" y="2921198"/>
            <a:ext cx="710488" cy="327620"/>
          </a:xfrm>
          <a:prstGeom prst="rect">
            <a:avLst/>
          </a:prstGeom>
          <a:solidFill>
            <a:srgbClr val="DDEAD8"/>
          </a:solidFill>
          <a:ln/>
        </p:spPr>
      </p:sp>
      <p:sp>
        <p:nvSpPr>
          <p:cNvPr id="30" name="Text 28"/>
          <p:cNvSpPr/>
          <p:nvPr/>
        </p:nvSpPr>
        <p:spPr>
          <a:xfrm>
            <a:off x="5478623" y="3001208"/>
            <a:ext cx="646989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2009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77909" y="2921198"/>
            <a:ext cx="710587" cy="327620"/>
          </a:xfrm>
          <a:prstGeom prst="rect">
            <a:avLst/>
          </a:prstGeom>
          <a:solidFill>
            <a:srgbClr val="DDEAD8"/>
          </a:solidFill>
          <a:ln/>
        </p:spPr>
      </p:sp>
      <p:sp>
        <p:nvSpPr>
          <p:cNvPr id="32" name="Text 30"/>
          <p:cNvSpPr/>
          <p:nvPr/>
        </p:nvSpPr>
        <p:spPr>
          <a:xfrm>
            <a:off x="6341408" y="3001208"/>
            <a:ext cx="647088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2010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40793" y="2921198"/>
            <a:ext cx="710686" cy="327620"/>
          </a:xfrm>
          <a:prstGeom prst="rect">
            <a:avLst/>
          </a:prstGeom>
          <a:solidFill>
            <a:srgbClr val="DDEAD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7204292" y="3001208"/>
            <a:ext cx="647188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2011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03776" y="2921198"/>
            <a:ext cx="710587" cy="327620"/>
          </a:xfrm>
          <a:prstGeom prst="rect">
            <a:avLst/>
          </a:prstGeom>
          <a:solidFill>
            <a:srgbClr val="C2482A"/>
          </a:solidFill>
          <a:ln/>
        </p:spPr>
      </p:sp>
      <p:sp>
        <p:nvSpPr>
          <p:cNvPr id="36" name="Text 34"/>
          <p:cNvSpPr/>
          <p:nvPr/>
        </p:nvSpPr>
        <p:spPr>
          <a:xfrm>
            <a:off x="8067275" y="3001208"/>
            <a:ext cx="647088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chemeClr val="bg1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2012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866660" y="2921198"/>
            <a:ext cx="621788" cy="327620"/>
          </a:xfrm>
          <a:prstGeom prst="rect">
            <a:avLst/>
          </a:prstGeom>
          <a:solidFill>
            <a:srgbClr val="DDEAD8"/>
          </a:solidFill>
          <a:ln/>
        </p:spPr>
      </p:sp>
      <p:sp>
        <p:nvSpPr>
          <p:cNvPr id="38" name="Text 36"/>
          <p:cNvSpPr/>
          <p:nvPr/>
        </p:nvSpPr>
        <p:spPr>
          <a:xfrm>
            <a:off x="8930159" y="3001208"/>
            <a:ext cx="558290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2013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640746" y="2921198"/>
            <a:ext cx="621788" cy="327620"/>
          </a:xfrm>
          <a:prstGeom prst="rect">
            <a:avLst/>
          </a:prstGeom>
          <a:solidFill>
            <a:srgbClr val="DDEAD8"/>
          </a:solidFill>
          <a:ln/>
        </p:spPr>
      </p:sp>
      <p:sp>
        <p:nvSpPr>
          <p:cNvPr id="40" name="Text 38"/>
          <p:cNvSpPr/>
          <p:nvPr/>
        </p:nvSpPr>
        <p:spPr>
          <a:xfrm>
            <a:off x="9704244" y="3001208"/>
            <a:ext cx="558290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2014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414831" y="2921198"/>
            <a:ext cx="621788" cy="327620"/>
          </a:xfrm>
          <a:prstGeom prst="rect">
            <a:avLst/>
          </a:prstGeom>
          <a:solidFill>
            <a:srgbClr val="DDEAD8"/>
          </a:solidFill>
          <a:ln/>
        </p:spPr>
      </p:sp>
      <p:sp>
        <p:nvSpPr>
          <p:cNvPr id="42" name="Text 40"/>
          <p:cNvSpPr/>
          <p:nvPr/>
        </p:nvSpPr>
        <p:spPr>
          <a:xfrm>
            <a:off x="10478329" y="3001208"/>
            <a:ext cx="558290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2015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1188916" y="2921198"/>
            <a:ext cx="621689" cy="327620"/>
          </a:xfrm>
          <a:prstGeom prst="rect">
            <a:avLst/>
          </a:prstGeom>
          <a:solidFill>
            <a:srgbClr val="DDEAD8"/>
          </a:solidFill>
          <a:ln/>
        </p:spPr>
      </p:sp>
      <p:sp>
        <p:nvSpPr>
          <p:cNvPr id="44" name="Text 42"/>
          <p:cNvSpPr/>
          <p:nvPr/>
        </p:nvSpPr>
        <p:spPr>
          <a:xfrm>
            <a:off x="11252415" y="3001208"/>
            <a:ext cx="55819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2016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15125" y="3460020"/>
            <a:ext cx="6776570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kern="100" spc="14" dirty="0">
                <a:solidFill>
                  <a:srgbClr val="56657A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2017–2025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415125" y="3889871"/>
            <a:ext cx="603929" cy="327620"/>
          </a:xfrm>
          <a:prstGeom prst="rect">
            <a:avLst/>
          </a:prstGeom>
          <a:solidFill>
            <a:srgbClr val="C2482A"/>
          </a:solidFill>
          <a:ln/>
        </p:spPr>
      </p:sp>
      <p:sp>
        <p:nvSpPr>
          <p:cNvPr id="47" name="Text 45"/>
          <p:cNvSpPr/>
          <p:nvPr/>
        </p:nvSpPr>
        <p:spPr>
          <a:xfrm>
            <a:off x="5478623" y="3969881"/>
            <a:ext cx="54043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2017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71351" y="3889871"/>
            <a:ext cx="603929" cy="327620"/>
          </a:xfrm>
          <a:prstGeom prst="rect">
            <a:avLst/>
          </a:prstGeom>
          <a:solidFill>
            <a:srgbClr val="C2482A"/>
          </a:solidFill>
          <a:ln/>
        </p:spPr>
      </p:sp>
      <p:sp>
        <p:nvSpPr>
          <p:cNvPr id="49" name="Text 47"/>
          <p:cNvSpPr/>
          <p:nvPr/>
        </p:nvSpPr>
        <p:spPr>
          <a:xfrm>
            <a:off x="6234849" y="3969881"/>
            <a:ext cx="54043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2018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27577" y="3889871"/>
            <a:ext cx="604128" cy="327620"/>
          </a:xfrm>
          <a:prstGeom prst="rect">
            <a:avLst/>
          </a:prstGeom>
          <a:solidFill>
            <a:srgbClr val="DDEAD8"/>
          </a:solidFill>
          <a:ln/>
        </p:spPr>
      </p:sp>
      <p:sp>
        <p:nvSpPr>
          <p:cNvPr id="51" name="Text 49"/>
          <p:cNvSpPr/>
          <p:nvPr/>
        </p:nvSpPr>
        <p:spPr>
          <a:xfrm>
            <a:off x="6991076" y="3969881"/>
            <a:ext cx="540629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2019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684002" y="3889871"/>
            <a:ext cx="603929" cy="327620"/>
          </a:xfrm>
          <a:prstGeom prst="rect">
            <a:avLst/>
          </a:prstGeom>
          <a:solidFill>
            <a:srgbClr val="C2482A"/>
          </a:solidFill>
          <a:ln/>
        </p:spPr>
      </p:sp>
      <p:sp>
        <p:nvSpPr>
          <p:cNvPr id="53" name="Text 51"/>
          <p:cNvSpPr/>
          <p:nvPr/>
        </p:nvSpPr>
        <p:spPr>
          <a:xfrm>
            <a:off x="7747501" y="3969881"/>
            <a:ext cx="54043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2020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440229" y="3889871"/>
            <a:ext cx="604029" cy="327620"/>
          </a:xfrm>
          <a:prstGeom prst="rect">
            <a:avLst/>
          </a:prstGeom>
          <a:solidFill>
            <a:srgbClr val="DDEAD8"/>
          </a:solidFill>
          <a:ln/>
        </p:spPr>
      </p:sp>
      <p:sp>
        <p:nvSpPr>
          <p:cNvPr id="55" name="Text 53"/>
          <p:cNvSpPr/>
          <p:nvPr/>
        </p:nvSpPr>
        <p:spPr>
          <a:xfrm>
            <a:off x="8503727" y="3969881"/>
            <a:ext cx="540530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2021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196654" y="3889871"/>
            <a:ext cx="603929" cy="327620"/>
          </a:xfrm>
          <a:prstGeom prst="rect">
            <a:avLst/>
          </a:prstGeom>
          <a:solidFill>
            <a:srgbClr val="DDEAD8"/>
          </a:solidFill>
          <a:ln/>
        </p:spPr>
      </p:sp>
      <p:sp>
        <p:nvSpPr>
          <p:cNvPr id="57" name="Text 55"/>
          <p:cNvSpPr/>
          <p:nvPr/>
        </p:nvSpPr>
        <p:spPr>
          <a:xfrm>
            <a:off x="9260152" y="3969881"/>
            <a:ext cx="54043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2022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952880" y="3889871"/>
            <a:ext cx="517710" cy="327620"/>
          </a:xfrm>
          <a:prstGeom prst="rect">
            <a:avLst/>
          </a:prstGeom>
          <a:solidFill>
            <a:srgbClr val="DDEAD8"/>
          </a:solidFill>
          <a:ln/>
        </p:spPr>
      </p:sp>
      <p:sp>
        <p:nvSpPr>
          <p:cNvPr id="59" name="Text 57"/>
          <p:cNvSpPr/>
          <p:nvPr/>
        </p:nvSpPr>
        <p:spPr>
          <a:xfrm>
            <a:off x="10016378" y="3969881"/>
            <a:ext cx="454212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2023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622887" y="3889871"/>
            <a:ext cx="517710" cy="327620"/>
          </a:xfrm>
          <a:prstGeom prst="rect">
            <a:avLst/>
          </a:prstGeom>
          <a:solidFill>
            <a:srgbClr val="C2482A"/>
          </a:solidFill>
          <a:ln/>
        </p:spPr>
      </p:sp>
      <p:sp>
        <p:nvSpPr>
          <p:cNvPr id="61" name="Text 59"/>
          <p:cNvSpPr/>
          <p:nvPr/>
        </p:nvSpPr>
        <p:spPr>
          <a:xfrm>
            <a:off x="10686386" y="3969881"/>
            <a:ext cx="454212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2024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1292895" y="3889871"/>
            <a:ext cx="517710" cy="327620"/>
          </a:xfrm>
          <a:prstGeom prst="rect">
            <a:avLst/>
          </a:prstGeom>
          <a:solidFill>
            <a:srgbClr val="C2482A"/>
          </a:solidFill>
          <a:ln/>
        </p:spPr>
      </p:sp>
      <p:sp>
        <p:nvSpPr>
          <p:cNvPr id="63" name="Text 61"/>
          <p:cNvSpPr/>
          <p:nvPr/>
        </p:nvSpPr>
        <p:spPr>
          <a:xfrm>
            <a:off x="11356393" y="3969881"/>
            <a:ext cx="454212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2025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415125" y="4428692"/>
            <a:ext cx="6395580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kern="100" spc="14" dirty="0">
                <a:solidFill>
                  <a:srgbClr val="56657A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What is a drought year?</a:t>
            </a:r>
            <a:r>
              <a:rPr lang="en-US" sz="1400" kern="100" spc="14" dirty="0">
                <a:solidFill>
                  <a:srgbClr val="56657A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 A year when April to September was much drier than normal and crops were much less green, across more than 1/5 of the region's farmland.</a:t>
            </a:r>
            <a:endParaRPr lang="en-US" sz="1400" dirty="0"/>
          </a:p>
        </p:txBody>
      </p:sp>
      <p:sp>
        <p:nvSpPr>
          <p:cNvPr id="66" name="Прямоугольник: скругленные углы 65">
            <a:extLst>
              <a:ext uri="{FF2B5EF4-FFF2-40B4-BE49-F238E27FC236}">
                <a16:creationId xmlns:a16="http://schemas.microsoft.com/office/drawing/2014/main" id="{89BF47F8-6298-3F4F-D14E-72AEA888D4EC}"/>
              </a:ext>
            </a:extLst>
          </p:cNvPr>
          <p:cNvSpPr/>
          <p:nvPr/>
        </p:nvSpPr>
        <p:spPr>
          <a:xfrm>
            <a:off x="11058939" y="6465123"/>
            <a:ext cx="1079747" cy="324149"/>
          </a:xfrm>
          <a:prstGeom prst="roundRect">
            <a:avLst/>
          </a:prstGeom>
          <a:solidFill>
            <a:srgbClr val="EEF3F7"/>
          </a:solidFill>
          <a:ln>
            <a:solidFill>
              <a:srgbClr val="EE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538750" cy="6858000"/>
          </a:xfrm>
          <a:custGeom>
            <a:avLst/>
            <a:gdLst/>
            <a:ahLst/>
            <a:cxnLst/>
            <a:rect l="l" t="t" r="r" b="b"/>
            <a:pathLst>
              <a:path w="8538750" h="6858000">
                <a:moveTo>
                  <a:pt x="812779" y="0"/>
                </a:moveTo>
                <a:lnTo>
                  <a:pt x="8411754" y="0"/>
                </a:lnTo>
                <a:arcTo wR="126997" hR="127000" stAng="16200000" swAng="5400000"/>
                <a:lnTo>
                  <a:pt x="8538750" y="6731000"/>
                </a:lnTo>
                <a:arcTo wR="126997" hR="127000" stAng="0" swAng="5400000"/>
                <a:lnTo>
                  <a:pt x="126997" y="6858000"/>
                </a:lnTo>
                <a:arcTo wR="126997" hR="127000" stAng="5400000" swAng="5400000"/>
                <a:lnTo>
                  <a:pt x="0" y="812800"/>
                </a:lnTo>
                <a:arcTo wR="812779" hR="812800" stAng="10800000" swAng="5400000"/>
                <a:close/>
              </a:path>
            </a:pathLst>
          </a:custGeom>
          <a:solidFill>
            <a:srgbClr val="F8FAF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2" y="152400"/>
            <a:ext cx="2438339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4792" y="2081276"/>
            <a:ext cx="264302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kern="100" spc="14" dirty="0">
                <a:solidFill>
                  <a:srgbClr val="2C3A4C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2007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7815" y="152400"/>
            <a:ext cx="2438339" cy="1828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947815" y="2081276"/>
            <a:ext cx="264302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kern="100" spc="14" dirty="0">
                <a:solidFill>
                  <a:srgbClr val="2C3A4C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2012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0837" y="152400"/>
            <a:ext cx="2438339" cy="18288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90837" y="2081276"/>
            <a:ext cx="2643121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kern="100" spc="14" dirty="0">
                <a:solidFill>
                  <a:srgbClr val="2C3A4C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2017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792" y="2336800"/>
            <a:ext cx="2438339" cy="18288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04792" y="4265676"/>
            <a:ext cx="264302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kern="100" spc="14" dirty="0">
                <a:solidFill>
                  <a:srgbClr val="2C3A4C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2018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7815" y="2336800"/>
            <a:ext cx="2438339" cy="18288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947815" y="4265676"/>
            <a:ext cx="264302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kern="100" spc="14" dirty="0">
                <a:solidFill>
                  <a:srgbClr val="2C3A4C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2020</a:t>
            </a:r>
            <a:endParaRPr lang="en-US" sz="14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0837" y="2336800"/>
            <a:ext cx="2438339" cy="18288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590837" y="4265676"/>
            <a:ext cx="2643121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kern="100" spc="14" dirty="0">
                <a:solidFill>
                  <a:srgbClr val="2C3A4C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2024</a:t>
            </a:r>
            <a:endParaRPr lang="en-US" sz="14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792" y="4521200"/>
            <a:ext cx="2438339" cy="18288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304792" y="6450076"/>
            <a:ext cx="792916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kern="100" spc="14" dirty="0">
                <a:solidFill>
                  <a:srgbClr val="2C3A4C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2025</a:t>
            </a:r>
            <a:endParaRPr lang="en-US" sz="1400" dirty="0"/>
          </a:p>
        </p:txBody>
      </p:sp>
      <p:sp>
        <p:nvSpPr>
          <p:cNvPr id="17" name="Text 8"/>
          <p:cNvSpPr/>
          <p:nvPr/>
        </p:nvSpPr>
        <p:spPr>
          <a:xfrm>
            <a:off x="8970440" y="186986"/>
            <a:ext cx="2891063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39" dirty="0">
                <a:solidFill>
                  <a:srgbClr val="14263D"/>
                </a:solidFill>
                <a:latin typeface="Bree Serif" pitchFamily="34" charset="0"/>
                <a:ea typeface="Bree Serif" pitchFamily="34" charset="-122"/>
                <a:cs typeface="Bree Serif" pitchFamily="34" charset="0"/>
              </a:rPr>
              <a:t>In the worst years, drought covered almost the whole region</a:t>
            </a:r>
            <a:endParaRPr lang="en-US" sz="2600" dirty="0"/>
          </a:p>
        </p:txBody>
      </p:sp>
      <p:sp>
        <p:nvSpPr>
          <p:cNvPr id="18" name="Shape 9"/>
          <p:cNvSpPr/>
          <p:nvPr/>
        </p:nvSpPr>
        <p:spPr>
          <a:xfrm>
            <a:off x="8970440" y="1859756"/>
            <a:ext cx="722691" cy="50701"/>
          </a:xfrm>
          <a:prstGeom prst="roundRect">
            <a:avLst>
              <a:gd name="adj" fmla="val 49999"/>
            </a:avLst>
          </a:prstGeom>
          <a:solidFill>
            <a:srgbClr val="F0A028"/>
          </a:solidFill>
          <a:ln/>
        </p:spPr>
      </p:sp>
      <p:sp>
        <p:nvSpPr>
          <p:cNvPr id="19" name="Text 10"/>
          <p:cNvSpPr/>
          <p:nvPr/>
        </p:nvSpPr>
        <p:spPr>
          <a:xfrm>
            <a:off x="8970440" y="2179796"/>
            <a:ext cx="2891063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C3A4C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Worst years:</a:t>
            </a:r>
            <a:r>
              <a:rPr lang="en-US" sz="1500" dirty="0">
                <a:solidFill>
                  <a:srgbClr val="2C3A4C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 2007, 2024, 2012, 2025.</a:t>
            </a:r>
            <a:endParaRPr lang="en-US" sz="1500" dirty="0"/>
          </a:p>
        </p:txBody>
      </p:sp>
      <p:sp>
        <p:nvSpPr>
          <p:cNvPr id="20" name="Text 11"/>
          <p:cNvSpPr/>
          <p:nvPr/>
        </p:nvSpPr>
        <p:spPr>
          <a:xfrm>
            <a:off x="8970440" y="2902371"/>
            <a:ext cx="2891063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A4C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I</a:t>
            </a:r>
            <a:r>
              <a:rPr lang="en-US" sz="1500" dirty="0">
                <a:solidFill>
                  <a:srgbClr val="2C3A4C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n those years, </a:t>
            </a:r>
            <a:r>
              <a:rPr lang="en-US" sz="1500" b="1" dirty="0">
                <a:solidFill>
                  <a:srgbClr val="2C3A4C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two out of three fields or more</a:t>
            </a:r>
            <a:r>
              <a:rPr lang="en-US" sz="1500" dirty="0">
                <a:solidFill>
                  <a:srgbClr val="2C3A4C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 were dry or worse.</a:t>
            </a:r>
            <a:endParaRPr lang="en-US" sz="1100" dirty="0"/>
          </a:p>
        </p:txBody>
      </p:sp>
      <p:sp>
        <p:nvSpPr>
          <p:cNvPr id="21" name="Text 12"/>
          <p:cNvSpPr/>
          <p:nvPr/>
        </p:nvSpPr>
        <p:spPr>
          <a:xfrm>
            <a:off x="8970440" y="3898761"/>
            <a:ext cx="322125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100" spc="112" dirty="0">
                <a:solidFill>
                  <a:srgbClr val="2E3F9E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COLOUR KEY</a:t>
            </a:r>
            <a:endParaRPr lang="en-US" sz="1400" dirty="0"/>
          </a:p>
        </p:txBody>
      </p:sp>
      <p:sp>
        <p:nvSpPr>
          <p:cNvPr id="22" name="Shape 13"/>
          <p:cNvSpPr/>
          <p:nvPr/>
        </p:nvSpPr>
        <p:spPr>
          <a:xfrm>
            <a:off x="8970440" y="4324152"/>
            <a:ext cx="1369284" cy="387052"/>
          </a:xfrm>
          <a:prstGeom prst="rect">
            <a:avLst/>
          </a:prstGeom>
          <a:solidFill>
            <a:srgbClr val="D9F0D3"/>
          </a:solidFill>
          <a:ln/>
        </p:spPr>
      </p:sp>
      <p:sp>
        <p:nvSpPr>
          <p:cNvPr id="23" name="Text 14"/>
          <p:cNvSpPr/>
          <p:nvPr/>
        </p:nvSpPr>
        <p:spPr>
          <a:xfrm>
            <a:off x="9072038" y="4408353"/>
            <a:ext cx="126768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kern="100" spc="14" dirty="0">
                <a:solidFill>
                  <a:srgbClr val="000000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Normal</a:t>
            </a:r>
            <a:endParaRPr lang="en-US" sz="1400" dirty="0"/>
          </a:p>
        </p:txBody>
      </p:sp>
      <p:sp>
        <p:nvSpPr>
          <p:cNvPr id="24" name="Shape 15"/>
          <p:cNvSpPr/>
          <p:nvPr/>
        </p:nvSpPr>
        <p:spPr>
          <a:xfrm>
            <a:off x="10492120" y="4324152"/>
            <a:ext cx="1369383" cy="387052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25" name="Text 16"/>
          <p:cNvSpPr/>
          <p:nvPr/>
        </p:nvSpPr>
        <p:spPr>
          <a:xfrm>
            <a:off x="10593718" y="4408353"/>
            <a:ext cx="126778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kern="100" spc="14" dirty="0">
                <a:solidFill>
                  <a:srgbClr val="000000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A little dry</a:t>
            </a:r>
            <a:endParaRPr lang="en-US" sz="1400" dirty="0"/>
          </a:p>
        </p:txBody>
      </p:sp>
      <p:sp>
        <p:nvSpPr>
          <p:cNvPr id="26" name="Shape 17"/>
          <p:cNvSpPr/>
          <p:nvPr/>
        </p:nvSpPr>
        <p:spPr>
          <a:xfrm>
            <a:off x="8970440" y="4863505"/>
            <a:ext cx="1369284" cy="387052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27" name="Text 18"/>
          <p:cNvSpPr/>
          <p:nvPr/>
        </p:nvSpPr>
        <p:spPr>
          <a:xfrm>
            <a:off x="9072038" y="4947706"/>
            <a:ext cx="126768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kern="100" spc="14" dirty="0">
                <a:solidFill>
                  <a:srgbClr val="000000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Dry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10492120" y="4863505"/>
            <a:ext cx="1369383" cy="38705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9" name="Text 20"/>
          <p:cNvSpPr/>
          <p:nvPr/>
        </p:nvSpPr>
        <p:spPr>
          <a:xfrm>
            <a:off x="10593718" y="4947706"/>
            <a:ext cx="126778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Very dry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8970440" y="5402858"/>
            <a:ext cx="1369284" cy="621705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1" name="Text 22"/>
          <p:cNvSpPr/>
          <p:nvPr/>
        </p:nvSpPr>
        <p:spPr>
          <a:xfrm>
            <a:off x="9072038" y="5487059"/>
            <a:ext cx="1166089" cy="46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Extremely dry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10492120" y="5402858"/>
            <a:ext cx="1369383" cy="621705"/>
          </a:xfrm>
          <a:prstGeom prst="rect">
            <a:avLst/>
          </a:prstGeom>
          <a:solidFill>
            <a:srgbClr val="BEBEBE"/>
          </a:solidFill>
          <a:ln/>
        </p:spPr>
      </p:sp>
      <p:sp>
        <p:nvSpPr>
          <p:cNvPr id="33" name="Text 24"/>
          <p:cNvSpPr/>
          <p:nvPr/>
        </p:nvSpPr>
        <p:spPr>
          <a:xfrm>
            <a:off x="10593718" y="5487059"/>
            <a:ext cx="126778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kern="100" spc="14" dirty="0">
                <a:solidFill>
                  <a:srgbClr val="000000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Not farmland</a:t>
            </a:r>
            <a:endParaRPr lang="en-US" sz="1400" dirty="0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83B08F76-D5F3-7241-814E-70853E9D926E}"/>
              </a:ext>
            </a:extLst>
          </p:cNvPr>
          <p:cNvSpPr/>
          <p:nvPr/>
        </p:nvSpPr>
        <p:spPr>
          <a:xfrm>
            <a:off x="11058939" y="6465123"/>
            <a:ext cx="1079747" cy="324149"/>
          </a:xfrm>
          <a:prstGeom prst="roundRect">
            <a:avLst/>
          </a:prstGeom>
          <a:solidFill>
            <a:srgbClr val="EEF3F7"/>
          </a:solidFill>
          <a:ln>
            <a:solidFill>
              <a:srgbClr val="EE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 25"/>
          <p:cNvSpPr/>
          <p:nvPr/>
        </p:nvSpPr>
        <p:spPr>
          <a:xfrm>
            <a:off x="8970440" y="6235765"/>
            <a:ext cx="2891063" cy="62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kern="100" spc="14" dirty="0">
                <a:solidFill>
                  <a:srgbClr val="56657A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Each colour compares the year with what is normal for that same place.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84" y="687161"/>
            <a:ext cx="6456598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kern="100" spc="-57" dirty="0">
                <a:solidFill>
                  <a:srgbClr val="14263D"/>
                </a:solidFill>
                <a:latin typeface="Bree Serif" pitchFamily="34" charset="0"/>
                <a:ea typeface="Bree Serif" pitchFamily="34" charset="-122"/>
                <a:cs typeface="Bree Serif" pitchFamily="34" charset="0"/>
              </a:rPr>
              <a:t>All four districts are affected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34984" y="1437184"/>
            <a:ext cx="1614149" cy="50701"/>
          </a:xfrm>
          <a:prstGeom prst="roundRect">
            <a:avLst>
              <a:gd name="adj" fmla="val 49999"/>
            </a:avLst>
          </a:prstGeom>
          <a:solidFill>
            <a:srgbClr val="F0A028"/>
          </a:solidFill>
          <a:ln/>
        </p:spPr>
      </p:sp>
      <p:sp>
        <p:nvSpPr>
          <p:cNvPr id="4" name="Text 2"/>
          <p:cNvSpPr/>
          <p:nvPr/>
        </p:nvSpPr>
        <p:spPr>
          <a:xfrm>
            <a:off x="634984" y="1758367"/>
            <a:ext cx="7066183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2C3A4C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Years with drought, out of 26.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84" y="2665214"/>
            <a:ext cx="6456598" cy="29547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31259" y="0"/>
            <a:ext cx="4160436" cy="6858000"/>
          </a:xfrm>
          <a:custGeom>
            <a:avLst/>
            <a:gdLst/>
            <a:ahLst/>
            <a:cxnLst/>
            <a:rect l="l" t="t" r="r" b="b"/>
            <a:pathLst>
              <a:path w="4160436" h="6858000">
                <a:moveTo>
                  <a:pt x="126997" y="0"/>
                </a:moveTo>
                <a:lnTo>
                  <a:pt x="3347656" y="0"/>
                </a:lnTo>
                <a:arcTo wR="812779" hR="812800" stAng="16200000" swAng="5400000"/>
                <a:lnTo>
                  <a:pt x="4160436" y="6731000"/>
                </a:lnTo>
                <a:arcTo wR="126997" hR="127000" stAng="0" swAng="5400000"/>
                <a:lnTo>
                  <a:pt x="126997" y="6858000"/>
                </a:lnTo>
                <a:arcTo wR="126997" hR="127000" stAng="5400000" swAng="5400000"/>
                <a:lnTo>
                  <a:pt x="0" y="127000"/>
                </a:lnTo>
                <a:arcTo wR="126997" hR="127000" stAng="10800000" swAng="5400000"/>
                <a:close/>
              </a:path>
            </a:pathLst>
          </a:custGeom>
          <a:solidFill>
            <a:srgbClr val="DDE7F0"/>
          </a:solidFill>
          <a:ln/>
        </p:spPr>
      </p:sp>
      <p:sp>
        <p:nvSpPr>
          <p:cNvPr id="7" name="Text 4"/>
          <p:cNvSpPr/>
          <p:nvPr/>
        </p:nvSpPr>
        <p:spPr>
          <a:xfrm>
            <a:off x="8361451" y="443160"/>
            <a:ext cx="3500052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108" dirty="0">
                <a:solidFill>
                  <a:srgbClr val="000000"/>
                </a:solidFill>
                <a:latin typeface="Bree Serif" pitchFamily="34" charset="0"/>
                <a:ea typeface="Bree Serif" pitchFamily="34" charset="-122"/>
                <a:cs typeface="Bree Serif" pitchFamily="34" charset="0"/>
              </a:rPr>
              <a:t>No district is safe.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8361451" y="2062956"/>
            <a:ext cx="874988" cy="50701"/>
          </a:xfrm>
          <a:prstGeom prst="roundRect">
            <a:avLst>
              <a:gd name="adj" fmla="val 49999"/>
            </a:avLst>
          </a:prstGeom>
          <a:solidFill>
            <a:srgbClr val="2F6B3A"/>
          </a:solidFill>
          <a:ln/>
        </p:spPr>
      </p:sp>
      <p:sp>
        <p:nvSpPr>
          <p:cNvPr id="9" name="Text 6"/>
          <p:cNvSpPr/>
          <p:nvPr/>
        </p:nvSpPr>
        <p:spPr>
          <a:xfrm>
            <a:off x="8361451" y="2384139"/>
            <a:ext cx="3500052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Which one suffers most changes from year to year.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361451" y="5567771"/>
            <a:ext cx="3500052" cy="9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Dry years often come in pairs: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2017–2018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2024–2025.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83" y="476250"/>
            <a:ext cx="2177301" cy="295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54" dirty="0">
                <a:solidFill>
                  <a:srgbClr val="14263D"/>
                </a:solidFill>
                <a:latin typeface="Bree Serif" pitchFamily="34" charset="0"/>
                <a:ea typeface="Bree Serif" pitchFamily="34" charset="-122"/>
                <a:cs typeface="Bree Serif" pitchFamily="34" charset="0"/>
              </a:rPr>
              <a:t>What farms in the south are doing about drought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34983" y="3257090"/>
            <a:ext cx="544201" cy="38100"/>
          </a:xfrm>
          <a:prstGeom prst="roundRect">
            <a:avLst>
              <a:gd name="adj" fmla="val 49999"/>
            </a:avLst>
          </a:prstGeom>
          <a:solidFill>
            <a:srgbClr val="F0A028"/>
          </a:solidFill>
          <a:ln/>
        </p:spPr>
      </p:sp>
      <p:sp>
        <p:nvSpPr>
          <p:cNvPr id="4" name="Text 2"/>
          <p:cNvSpPr/>
          <p:nvPr/>
        </p:nvSpPr>
        <p:spPr>
          <a:xfrm>
            <a:off x="634984" y="3660378"/>
            <a:ext cx="2177301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2C3A4C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Plan for a dry year every four years.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84" y="5156297"/>
            <a:ext cx="2177301" cy="1550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kern="100" spc="13" dirty="0">
                <a:solidFill>
                  <a:srgbClr val="56657A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Examples from farms in southern Ukraine (SuperAgronom, 2024-2025). Options to discuss with your agronomist. They do not guarantee yield.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751962" y="0"/>
            <a:ext cx="4067470" cy="2184400"/>
          </a:xfrm>
          <a:prstGeom prst="rect">
            <a:avLst/>
          </a:prstGeom>
          <a:solidFill>
            <a:srgbClr val="DBE4E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8959" y="126974"/>
            <a:ext cx="431690" cy="4317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26544" y="142584"/>
            <a:ext cx="3165892" cy="337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100" kern="100" spc="-10" dirty="0">
                <a:solidFill>
                  <a:srgbClr val="14263D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Keep the soil covered.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526544" y="620848"/>
            <a:ext cx="3165892" cy="1286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2C3A4C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Skip plowing where you can and leave crop residue on top. A farm in Pervomaisk district has used no-till since 2018 and could still sow on time in dry springs.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971829" y="0"/>
            <a:ext cx="4067470" cy="2184400"/>
          </a:xfrm>
          <a:prstGeom prst="rect">
            <a:avLst/>
          </a:prstGeom>
          <a:solidFill>
            <a:srgbClr val="DBE4E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826" y="126974"/>
            <a:ext cx="431690" cy="43170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746410" y="142584"/>
            <a:ext cx="3165892" cy="675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100" kern="100" spc="-10" dirty="0">
                <a:solidFill>
                  <a:srgbClr val="14263D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Sow thinner, and test it first.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8746410" y="957749"/>
            <a:ext cx="3165892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2C3A4C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Some southern farms sow winter wheat at 2-3 million seeds per hectare instead of 4 million. Try it on one field before changing all of them.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751962" y="2336701"/>
            <a:ext cx="4067470" cy="2184598"/>
          </a:xfrm>
          <a:prstGeom prst="rect">
            <a:avLst/>
          </a:prstGeom>
          <a:solidFill>
            <a:srgbClr val="DBE4E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8959" y="2463674"/>
            <a:ext cx="431690" cy="4317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26544" y="2479284"/>
            <a:ext cx="3165892" cy="337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100" kern="100" spc="-10" dirty="0">
                <a:solidFill>
                  <a:srgbClr val="14263D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Don't bet on one crop.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4526544" y="2956809"/>
            <a:ext cx="3165892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2C3A4C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In 2025 sunflower gave only 0.2 t/ha on some Mykolaiv fields. Farms say soybean needs irrigation here. Mix crops, rotate deep-rooted and shallow-rooted ones, and consider winter crops and peas.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971829" y="2336701"/>
            <a:ext cx="4067470" cy="2184598"/>
          </a:xfrm>
          <a:prstGeom prst="rect">
            <a:avLst/>
          </a:prstGeom>
          <a:solidFill>
            <a:srgbClr val="DBE4EC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8826" y="2463674"/>
            <a:ext cx="431690" cy="43170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46410" y="2479284"/>
            <a:ext cx="3165892" cy="675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100" kern="100" spc="-10" dirty="0">
                <a:solidFill>
                  <a:srgbClr val="14263D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Match fertiliser to the water.</a:t>
            </a:r>
            <a:endParaRPr lang="en-US" sz="2100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0F63E874-07E0-2E17-1A5D-BC89A950F52C}"/>
              </a:ext>
            </a:extLst>
          </p:cNvPr>
          <p:cNvSpPr/>
          <p:nvPr/>
        </p:nvSpPr>
        <p:spPr>
          <a:xfrm>
            <a:off x="11058939" y="6465123"/>
            <a:ext cx="1079747" cy="324149"/>
          </a:xfrm>
          <a:prstGeom prst="roundRect">
            <a:avLst/>
          </a:prstGeom>
          <a:solidFill>
            <a:srgbClr val="EEF3F7"/>
          </a:solidFill>
          <a:ln>
            <a:solidFill>
              <a:srgbClr val="EE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 15"/>
          <p:cNvSpPr/>
          <p:nvPr/>
        </p:nvSpPr>
        <p:spPr>
          <a:xfrm>
            <a:off x="8746410" y="3295190"/>
            <a:ext cx="3165892" cy="1029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2C3A4C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In a dry year water limits the yield, so extra nitrogen is wasted. One Mykolaiv-area farm cut its nitrogen by about half.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3751962" y="4673600"/>
            <a:ext cx="8287336" cy="2184400"/>
          </a:xfrm>
          <a:prstGeom prst="rect">
            <a:avLst/>
          </a:prstGeom>
          <a:solidFill>
            <a:srgbClr val="DBE4EC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8959" y="4800574"/>
            <a:ext cx="431690" cy="43170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526544" y="4816184"/>
            <a:ext cx="7385758" cy="337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100" kern="100" spc="-10" dirty="0">
                <a:solidFill>
                  <a:srgbClr val="14263D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0"/>
              </a:rPr>
              <a:t>Sow when the soil is ready, not by the calendar.</a:t>
            </a:r>
            <a:endParaRPr lang="en-US" sz="2100" dirty="0"/>
          </a:p>
        </p:txBody>
      </p:sp>
      <p:sp>
        <p:nvSpPr>
          <p:cNvPr id="25" name="Text 18"/>
          <p:cNvSpPr/>
          <p:nvPr/>
        </p:nvSpPr>
        <p:spPr>
          <a:xfrm>
            <a:off x="4526544" y="5294448"/>
            <a:ext cx="7385758" cy="514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2C3A4C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Soil covered with residue keeps its moisture, so you can pick the sowing day to suit it.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440</Words>
  <Application>Microsoft Office PowerPoint</Application>
  <PresentationFormat>Широкоэкранный</PresentationFormat>
  <Paragraphs>78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1" baseType="lpstr">
      <vt:lpstr>Golos Text Medium</vt:lpstr>
      <vt:lpstr>Bree Serif</vt:lpstr>
      <vt:lpstr>Golos Text</vt:lpstr>
      <vt:lpstr>Golos Text Bold</vt:lpstr>
      <vt:lpstr>Golos Text SemiBold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София Терентьева</cp:lastModifiedBy>
  <cp:revision>3</cp:revision>
  <dcterms:created xsi:type="dcterms:W3CDTF">2026-10-23T08:54:17Z</dcterms:created>
  <dcterms:modified xsi:type="dcterms:W3CDTF">2026-10-24T08:28:09Z</dcterms:modified>
</cp:coreProperties>
</file>